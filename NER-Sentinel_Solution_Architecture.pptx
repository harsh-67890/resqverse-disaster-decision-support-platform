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1288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Team 404: The Optimistics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28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SOLUTION ARCHITECTURE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97316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34747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①  MULTI-SOURCE DATA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AE6FD"/>
                </a:solidFill>
                <a:latin typeface="Calibri"/>
              </a:defRPr>
            </a:pPr>
            <a:r>
              <a:t>Diverse data for complete situational awareness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508760"/>
            <a:ext cx="3474720" cy="47091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645920"/>
            <a:ext cx="3255264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682496"/>
            <a:ext cx="3072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🛰️  Satellite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20240"/>
            <a:ext cx="3072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(SMAP, SRTM, NASA POWER, Sentinel-1 InSAR)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267712"/>
            <a:ext cx="3255264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304288"/>
            <a:ext cx="3072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🌧️  Weather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542032"/>
            <a:ext cx="3072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(IMD, Open-Meteo Real-time)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889504"/>
            <a:ext cx="3255264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926080"/>
            <a:ext cx="3072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⛰️  Terrain / Geospatial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163824"/>
            <a:ext cx="3072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(DEM, Slope, Land Use, Geology)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511296"/>
            <a:ext cx="3255264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547872"/>
            <a:ext cx="3072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📡  Sensors &amp; River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785616"/>
            <a:ext cx="3072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(CWC Gauges, IoT Sensors)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133088"/>
            <a:ext cx="3255264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169664"/>
            <a:ext cx="3072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📜  Historical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407408"/>
            <a:ext cx="3072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(Past Landslides &amp; Floods: 30+ events)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754880"/>
            <a:ext cx="3255264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791456"/>
            <a:ext cx="3072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👥  Citizen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029200"/>
            <a:ext cx="30723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(Geotagged Photos, Videos, On-Ground Info)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5486400"/>
            <a:ext cx="3255264" cy="457200"/>
          </a:xfrm>
          <a:prstGeom prst="roundRect">
            <a:avLst/>
          </a:prstGeom>
          <a:solidFill>
            <a:srgbClr val="BFDB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550408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Calibri"/>
              </a:defRPr>
            </a:pPr>
            <a:r>
              <a:t>🌐  Multiple sources → one unified view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94760" y="3474720"/>
            <a:ext cx="502920" cy="320040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89120" y="1005840"/>
            <a:ext cx="32004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102412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⚙️  DATA 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122529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1FAE5"/>
                </a:solidFill>
                <a:latin typeface="Calibri"/>
              </a:defRPr>
            </a:pPr>
            <a:r>
              <a:t>Clean  •  Combine  •  Prepare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1508760"/>
            <a:ext cx="3200400" cy="470916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98848" y="1691640"/>
            <a:ext cx="2980944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1737360"/>
            <a:ext cx="2798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🧹  Data Cleaning &amp; Preparation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1965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Calibri"/>
              </a:defRPr>
            </a:pPr>
            <a:r>
              <a:t>•  Remove errors &amp; missing values</a:t>
            </a:r>
            <a:br/>
            <a:r>
              <a:t>•  Standardize formats &amp; units</a:t>
            </a:r>
            <a:br/>
            <a:r>
              <a:t>•  Spatio-temporal grid alignment (30m)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715000" y="2852928"/>
            <a:ext cx="109728" cy="320040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5715000" y="2852928"/>
            <a:ext cx="320040" cy="274320"/>
          </a:xfrm>
          <a:prstGeom prst="down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98848" y="3200400"/>
            <a:ext cx="2980944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0288" y="3246120"/>
            <a:ext cx="2798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🔗  Data Integration &amp; Fusion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3474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Calibri"/>
              </a:defRPr>
            </a:pPr>
            <a:r>
              <a:t>•  Combine satellite + weather + terrain</a:t>
            </a:r>
            <a:br/>
            <a:r>
              <a:t>•  Merge sensors &amp; citizen reports at GPS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5715000" y="4160520"/>
            <a:ext cx="320040" cy="274320"/>
          </a:xfrm>
          <a:prstGeom prst="down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98848" y="4526280"/>
            <a:ext cx="2980944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90288" y="4572000"/>
            <a:ext cx="2798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✨  Feature Engineering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0288" y="4800600"/>
            <a:ext cx="2798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Calibri"/>
              </a:defRPr>
            </a:pPr>
            <a:r>
              <a:t>Extract 9 key risk factors: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0" y="5029200"/>
            <a:ext cx="1325880" cy="2286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504748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65F46"/>
                </a:solidFill>
                <a:latin typeface="Calibri"/>
              </a:defRPr>
            </a:pPr>
            <a:r>
              <a:t>🌧️ Rain 1d/3d/7d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89320" y="5029200"/>
            <a:ext cx="1325880" cy="2286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504748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65F46"/>
                </a:solidFill>
                <a:latin typeface="Calibri"/>
              </a:defRPr>
            </a:pPr>
            <a:r>
              <a:t>🌱 Soil Moisture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0" y="5321808"/>
            <a:ext cx="1325880" cy="2286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534009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65F46"/>
                </a:solidFill>
                <a:latin typeface="Calibri"/>
              </a:defRPr>
            </a:pPr>
            <a:r>
              <a:t>⛰️ Slope &amp; Elev.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5321808"/>
            <a:ext cx="1325880" cy="2286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534009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65F46"/>
                </a:solidFill>
                <a:latin typeface="Calibri"/>
              </a:defRPr>
            </a:pPr>
            <a:r>
              <a:t>📡 InSAR Slip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0" y="5614416"/>
            <a:ext cx="1325880" cy="2286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17720" y="563270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65F46"/>
                </a:solidFill>
                <a:latin typeface="Calibri"/>
              </a:defRPr>
            </a:pPr>
            <a:r>
              <a:t>🌊 River Proximity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89320" y="5614416"/>
            <a:ext cx="1325880" cy="2286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63270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065F46"/>
                </a:solidFill>
                <a:latin typeface="Calibri"/>
              </a:defRPr>
            </a:pPr>
            <a:r>
              <a:t>🛣️ Road &amp; Geology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635240" y="3474720"/>
            <a:ext cx="502920" cy="320040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29600" y="1005840"/>
            <a:ext cx="365760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10241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②  AI / ML PREDICTION ENGINE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22529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EDD5"/>
                </a:solidFill>
                <a:latin typeface="Calibri"/>
              </a:defRPr>
            </a:pPr>
            <a:r>
              <a:t>From Data to Risk Insights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1508760"/>
            <a:ext cx="3657600" cy="470916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339328" y="1691640"/>
            <a:ext cx="3438144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0768" y="1737360"/>
            <a:ext cx="3255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🧠  ML Models (Ensemble)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58200" y="2011680"/>
            <a:ext cx="621792" cy="20116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76488" y="2020824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16568" y="2011680"/>
            <a:ext cx="621792" cy="20116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34856" y="2020824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74936" y="2011680"/>
            <a:ext cx="621792" cy="20116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93224" y="2020824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Gradient Boost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433304" y="2011680"/>
            <a:ext cx="621792" cy="20116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51592" y="2020824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SVM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091672" y="2011680"/>
            <a:ext cx="621792" cy="20116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09960" y="2020824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Neural Net</a:t>
            </a:r>
          </a:p>
        </p:txBody>
      </p:sp>
      <p:sp>
        <p:nvSpPr>
          <p:cNvPr id="76" name="Down Arrow 75"/>
          <p:cNvSpPr/>
          <p:nvPr/>
        </p:nvSpPr>
        <p:spPr>
          <a:xfrm>
            <a:off x="9784080" y="2651760"/>
            <a:ext cx="32004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339328" y="3017520"/>
            <a:ext cx="3438144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30768" y="3063240"/>
            <a:ext cx="3255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📍  Risk Prediction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30768" y="3291840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Calibri"/>
              </a:defRPr>
            </a:pPr>
            <a:r>
              <a:t>Predicts landslide / flood risk for any GPS coordinate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30768" y="3520440"/>
            <a:ext cx="3255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2626"/>
                </a:solidFill>
                <a:latin typeface="Calibri"/>
              </a:defRPr>
            </a:pPr>
            <a:r>
              <a:t>P(risk) = 0.82</a:t>
            </a:r>
          </a:p>
        </p:txBody>
      </p:sp>
      <p:sp>
        <p:nvSpPr>
          <p:cNvPr id="81" name="Down Arrow 80"/>
          <p:cNvSpPr/>
          <p:nvPr/>
        </p:nvSpPr>
        <p:spPr>
          <a:xfrm>
            <a:off x="9784080" y="4069080"/>
            <a:ext cx="320040" cy="27432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339328" y="4434840"/>
            <a:ext cx="3438144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30768" y="4480560"/>
            <a:ext cx="3255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🚦  Risk Level Classification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58200" y="47548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🔴 High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956048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75569"/>
                </a:solidFill>
                <a:latin typeface="Calibri"/>
              </a:defRPr>
            </a:pPr>
            <a:r>
              <a:t>( ≥ 0.75 )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81160" y="47548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🟠 Moderate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1160" y="4956048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75569"/>
                </a:solidFill>
                <a:latin typeface="Calibri"/>
              </a:defRPr>
            </a:pPr>
            <a:r>
              <a:t>( 0.50-0.75 )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04120" y="47548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🟡 Low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04120" y="4956048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75569"/>
                </a:solidFill>
                <a:latin typeface="Calibri"/>
              </a:defRPr>
            </a:pPr>
            <a:r>
              <a:t>( 0.25-0.50 )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927080" y="47548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🟢 Minimal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4956048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475569"/>
                </a:solidFill>
                <a:latin typeface="Calibri"/>
              </a:defRPr>
            </a:pPr>
            <a:r>
              <a:t>( &lt; 0.25 )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39328" y="5440680"/>
            <a:ext cx="3438144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30768" y="54589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30768" y="5623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— ROC-AUC 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75520" y="54589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0.894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Accurate &amp; explainable prediction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743200" y="6400800"/>
            <a:ext cx="667512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26080" y="6419088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→  Risk Insights  →  3D GIS Dashboard  +  Dijkstra Safe Routes  +  Audio Alerts  +  ResQBot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