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82880"/>
            <a:ext cx="11460175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Team 404: The Optimistics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011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END-TO-END SOLUTION &amp; TECHNICAL ARCHITECTURE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1945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B923C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68680"/>
            <a:ext cx="2057400" cy="41148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418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① DATA INGESTION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07592"/>
            <a:ext cx="2057400" cy="367588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Satellite Data</a:t>
            </a:r>
            <a:br/>
            <a:r>
              <a:t>  (SMAP, SRTM, InSAR)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Weather Feeds</a:t>
            </a:r>
            <a:br/>
            <a:r>
              <a:t>  (IMD, Open-Meteo)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Terrain &amp; Rivers</a:t>
            </a:r>
            <a:br/>
            <a:r>
              <a:t>  (CWC Gauges, IoT)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Citizen Reports</a:t>
            </a:r>
            <a:br/>
            <a:r>
              <a:t>  (Geotagged Photos)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55164" y="2788920"/>
            <a:ext cx="164592" cy="228600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1760" y="868680"/>
            <a:ext cx="205740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9418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② DATA 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1307592"/>
            <a:ext cx="2057400" cy="367588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41732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Data Cleaning &amp;</a:t>
            </a:r>
            <a:br/>
            <a:r>
              <a:t>  30m grid 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1945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Multi-Source</a:t>
            </a:r>
            <a:br/>
            <a:r>
              <a:t>  Spatial Overlay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9718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Feature Engineering</a:t>
            </a:r>
            <a:br/>
            <a:r>
              <a:t>  (9 Core Risk Factors)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74904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  - Rain 1d/3d/7d</a:t>
            </a:r>
            <a:br/>
            <a:r>
              <a:t>  - Soil Moisture</a:t>
            </a:r>
            <a:br/>
            <a:r>
              <a:t>  - Slope &amp; InSAR Slip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741164" y="2788920"/>
            <a:ext cx="164592" cy="228600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37760" y="868680"/>
            <a:ext cx="2057400" cy="4114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9418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③ AI/ML ENGINE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1307592"/>
            <a:ext cx="2057400" cy="3675888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141732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ML Ensemble Stack</a:t>
            </a:r>
            <a:br/>
            <a:r>
              <a:t>  (RF, XGBoost, NN)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1945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Probabilistic Risk</a:t>
            </a:r>
            <a:br/>
            <a:r>
              <a:t>  P(risk) = 0.82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9718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4-Level Severity:</a:t>
            </a:r>
            <a:br/>
            <a:r>
              <a:t>  High | Mod | Low |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74904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Verified Benchmark</a:t>
            </a:r>
            <a:br/>
            <a:r>
              <a:t>  ROC-AUC = 0.894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027164" y="2788920"/>
            <a:ext cx="164592" cy="22860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23760" y="868680"/>
            <a:ext cx="2057400" cy="4114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9418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④ DYNAMIC RISK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1307592"/>
            <a:ext cx="2057400" cy="3675888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141732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Dynamic Cost Surface:</a:t>
            </a:r>
            <a:br/>
            <a:r>
              <a:t>  Cost = Dist*(1+R*12)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1945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3D Dijkstra Graph</a:t>
            </a:r>
            <a:br/>
            <a:r>
              <a:t>  Safe Path Router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9718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400m Hazard Buffer</a:t>
            </a:r>
            <a:br/>
            <a:r>
              <a:t>  Auto-Bypass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74904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Live Dynamic Reroute</a:t>
            </a:r>
            <a:br/>
            <a:r>
              <a:t>  (Sub-second response)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313164" y="2788920"/>
            <a:ext cx="164592" cy="228600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09760" y="868680"/>
            <a:ext cx="2057400" cy="411480"/>
          </a:xfrm>
          <a:prstGeom prst="round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0" y="9418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⑤ 3D COMMAND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09760" y="1307592"/>
            <a:ext cx="2057400" cy="367588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141732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3D WebGL Digital Twin</a:t>
            </a:r>
            <a:br/>
            <a:r>
              <a:t>  (MapLibre / Deck.gl)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219456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Tactical Hazards Layer</a:t>
            </a:r>
            <a:br/>
            <a:r>
              <a:t>  (Roads, Bridges, Slips)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297180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Safe Shelter Registry</a:t>
            </a:r>
            <a:br/>
            <a:r>
              <a:t>  &amp; Capacity Tracking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749040"/>
            <a:ext cx="1874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F172A"/>
                </a:solidFill>
                <a:latin typeface="Arial"/>
              </a:defRPr>
            </a:pPr>
            <a:r>
              <a:t>• SDRF / NDRF Dispatch</a:t>
            </a:r>
            <a:br/>
            <a:r>
              <a:t>  Coordination Hub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120640"/>
            <a:ext cx="6858000" cy="14173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19379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23C"/>
                </a:solidFill>
                <a:latin typeface="Arial"/>
              </a:defRPr>
            </a:pPr>
            <a:r>
              <a:t>MULTI-CHANNEL ALERTS &amp; OFF-GRID MESH CONNECTIVITY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486400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F172A"/>
                </a:solidFill>
                <a:latin typeface="Arial"/>
              </a:defRPr>
            </a:pPr>
            <a:r>
              <a:t>• Citizen Mobile App Push Notifications (Evacuation alerts, SOS emergency trigger)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724144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F172A"/>
                </a:solidFill>
                <a:latin typeface="Arial"/>
              </a:defRPr>
            </a:pPr>
            <a:r>
              <a:t>• Regional Multilingual SMS &amp; IVR Broadcast (Assamese, Bengali, Hindi, etc.)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961888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F172A"/>
                </a:solidFill>
                <a:latin typeface="Arial"/>
              </a:defRPr>
            </a:pPr>
            <a:r>
              <a:t>• High-Decibel Audio Sirens at high-risk landslide &amp; flood choke points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199632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F172A"/>
                </a:solidFill>
                <a:latin typeface="Arial"/>
              </a:defRPr>
            </a:pPr>
            <a:r>
              <a:t>• Offline BLE / LoRa Mesh Network: P2P relay when telecom towers &amp; power fail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06640" y="5120640"/>
            <a:ext cx="4419295" cy="14173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20" y="5193792"/>
            <a:ext cx="4053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ENTERPRISE TECH STACK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5486400"/>
            <a:ext cx="40535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F172A"/>
                </a:solidFill>
                <a:latin typeface="Arial"/>
              </a:defRPr>
            </a:pPr>
            <a:r>
              <a:t>Python 3.14 (FastAPI, Scikit-learn, GDAL)  |  Spring Boot 3.3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5724144"/>
            <a:ext cx="40535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F172A"/>
                </a:solidFill>
                <a:latin typeface="Arial"/>
              </a:defRPr>
            </a:pPr>
            <a:r>
              <a:t>Next.js 14 / TypeScript (MapLibre 3D WebGL, Deck.gl)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5961888"/>
            <a:ext cx="40535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F172A"/>
                </a:solidFill>
                <a:latin typeface="Arial"/>
              </a:defRPr>
            </a:pPr>
            <a:r>
              <a:t>PostgreSQL + PostGIS (Spatial Indexing)  |  Supabase Storage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6199632"/>
            <a:ext cx="40535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F172A"/>
                </a:solidFill>
                <a:latin typeface="Arial"/>
              </a:defRPr>
            </a:pPr>
            <a:r>
              <a:t>NVIDIA NIM AI (ResQBot Voice &amp; Chat)  |  BLE Mesh / LoRa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